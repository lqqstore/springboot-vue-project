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spc="250" kern="0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基于Spring Boot的宿舍管理系统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Dormitory Management System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答辩人：XXX    学号：XXXXXXXXXX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指导教师：XXX    专业：计算机科学与技术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2026年6月</a:t>
            </a:r>
            <a:endParaRPr lang="en-US" sz="1400" dirty="0"/>
          </a:p>
        </p:txBody>
      </p:sp>
      <p:sp>
        <p:nvSpPr>
          <p:cNvPr id="7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spc="150" kern="0" dirty="0">
                <a:solidFill>
                  <a:srgbClr val="1E2761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目录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371600" y="109728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1097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920240" y="1097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6454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项目背景与需求分析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371600" y="160020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920240" y="1600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6454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技术架构设计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371600" y="210312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2103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920240" y="21031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6454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系统功能模块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371600" y="260604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1371600" y="2606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920240" y="2606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6454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数据库设计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371600" y="310896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1371600" y="3108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920240" y="3108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6454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安全认证机制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371600" y="361188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1371600" y="3611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920240" y="36118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6454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系统演示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371600" y="411480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1371600" y="4114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920240" y="4114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6454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总结与展望</a:t>
            </a:r>
            <a:endParaRPr lang="en-US" sz="1800" dirty="0"/>
          </a:p>
        </p:txBody>
      </p:sp>
      <p:sp>
        <p:nvSpPr>
          <p:cNvPr id="24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spc="100" kern="0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01 项目背景与需求分析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项目背景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6454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• 高校宿舍管理信息化需求日益增长
</a:t>
            </a:r>
            <a:pPr algn="l" indent="0" marL="0">
              <a:buNone/>
            </a:pPr>
            <a:r>
              <a:rPr lang="en-US" sz="1400" dirty="0">
                <a:solidFill>
                  <a:srgbClr val="36454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• 传统纸质管理方式效率低、易出错
</a:t>
            </a:r>
            <a:pPr algn="l" indent="0" marL="0">
              <a:buNone/>
            </a:pPr>
            <a:r>
              <a:rPr lang="en-US" sz="1400" dirty="0">
                <a:solidFill>
                  <a:srgbClr val="36454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• 需要实现住宿分配、报修、公告等一体化管理
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0" y="1005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核心需求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029200" y="1371600"/>
            <a:ext cx="1828800" cy="1188720"/>
          </a:xfrm>
          <a:prstGeom prst="rect">
            <a:avLst/>
          </a:prstGeom>
          <a:solidFill>
            <a:srgbClr val="F5F5F5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🏠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120640" y="19202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楼栋房间管理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120640" y="21945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楼栋信息维护、房间容量配置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040880" y="1371600"/>
            <a:ext cx="1828800" cy="1188720"/>
          </a:xfrm>
          <a:prstGeom prst="rect">
            <a:avLst/>
          </a:prstGeom>
          <a:solidFill>
            <a:srgbClr val="F5F5F5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👨‍🎓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132320" y="19202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学生住宿分配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132320" y="21945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学生入住、换宿、退宿管理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0" y="2743200"/>
            <a:ext cx="1828800" cy="1188720"/>
          </a:xfrm>
          <a:prstGeom prst="rect">
            <a:avLst/>
          </a:prstGeom>
          <a:solidFill>
            <a:srgbClr val="F5F5F5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0640" y="2834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🔧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120640" y="32918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报修管理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20640" y="35661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报修申请、处理状态跟踪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040880" y="2743200"/>
            <a:ext cx="1828800" cy="1188720"/>
          </a:xfrm>
          <a:prstGeom prst="rect">
            <a:avLst/>
          </a:prstGeom>
          <a:solidFill>
            <a:srgbClr val="F5F5F5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0" y="2834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📢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7132320" y="32918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公告通知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132320" y="35661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通知发布、消息推送</a:t>
            </a:r>
            <a:endParaRPr lang="en-US" sz="1000" dirty="0"/>
          </a:p>
        </p:txBody>
      </p:sp>
      <p:sp>
        <p:nvSpPr>
          <p:cNvPr id="23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spc="100" kern="0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02 技术架构设计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3657600" cy="3474720"/>
          </a:xfrm>
          <a:prstGeom prst="rect">
            <a:avLst/>
          </a:prstGeom>
          <a:solidFill>
            <a:srgbClr val="F5F5F5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188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后端技术栈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97280" y="1645920"/>
            <a:ext cx="3108960" cy="32004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6459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17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97280" y="2057400"/>
            <a:ext cx="3108960" cy="32004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0574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Boot 3.2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97280" y="2468880"/>
            <a:ext cx="3108960" cy="32004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24688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MyBatis-Plus 3.5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97280" y="2880360"/>
            <a:ext cx="3108960" cy="32004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28803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8.0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097280" y="3291840"/>
            <a:ext cx="3108960" cy="32004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32918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Sa-Token 认证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97280" y="3703320"/>
            <a:ext cx="3108960" cy="32004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37033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Knife4j API文档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097280" y="4114800"/>
            <a:ext cx="3108960" cy="32004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9" name="Text 17"/>
          <p:cNvSpPr/>
          <p:nvPr/>
        </p:nvSpPr>
        <p:spPr>
          <a:xfrm>
            <a:off x="1097280" y="41148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Hutool 工具库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1097280"/>
            <a:ext cx="3657600" cy="3474720"/>
          </a:xfrm>
          <a:prstGeom prst="rect">
            <a:avLst/>
          </a:prstGeom>
          <a:solidFill>
            <a:srgbClr val="F5F5F5"/>
          </a:solidFill>
          <a:ln w="25400">
            <a:solidFill>
              <a:srgbClr val="4A90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1188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90E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前端技术栈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120640" y="1645920"/>
            <a:ext cx="3108960" cy="320040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23" name="Text 21"/>
          <p:cNvSpPr/>
          <p:nvPr/>
        </p:nvSpPr>
        <p:spPr>
          <a:xfrm>
            <a:off x="5120640" y="16459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 3.4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120640" y="2057400"/>
            <a:ext cx="3108960" cy="320040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25" name="Text 23"/>
          <p:cNvSpPr/>
          <p:nvPr/>
        </p:nvSpPr>
        <p:spPr>
          <a:xfrm>
            <a:off x="5120640" y="20574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 5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120640" y="2468880"/>
            <a:ext cx="3108960" cy="320040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27" name="Text 25"/>
          <p:cNvSpPr/>
          <p:nvPr/>
        </p:nvSpPr>
        <p:spPr>
          <a:xfrm>
            <a:off x="5120640" y="24688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 5 构建工具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120640" y="2880360"/>
            <a:ext cx="3108960" cy="320040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29" name="Text 27"/>
          <p:cNvSpPr/>
          <p:nvPr/>
        </p:nvSpPr>
        <p:spPr>
          <a:xfrm>
            <a:off x="5120640" y="28803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Element Plus UI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120640" y="3291840"/>
            <a:ext cx="3108960" cy="320040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31" name="Text 29"/>
          <p:cNvSpPr/>
          <p:nvPr/>
        </p:nvSpPr>
        <p:spPr>
          <a:xfrm>
            <a:off x="5120640" y="32918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Pinia 状态管理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120640" y="3703320"/>
            <a:ext cx="3108960" cy="320040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33" name="Text 31"/>
          <p:cNvSpPr/>
          <p:nvPr/>
        </p:nvSpPr>
        <p:spPr>
          <a:xfrm>
            <a:off x="5120640" y="37033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 Router 4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120640" y="4114800"/>
            <a:ext cx="3108960" cy="320040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35" name="Text 33"/>
          <p:cNvSpPr/>
          <p:nvPr/>
        </p:nvSpPr>
        <p:spPr>
          <a:xfrm>
            <a:off x="5120640" y="41148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Axios HTTP客户端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206240" y="2560320"/>
            <a:ext cx="731520" cy="548640"/>
          </a:xfrm>
          <a:prstGeom prst="rightArrow">
            <a:avLst/>
          </a:prstGeom>
          <a:solidFill>
            <a:srgbClr val="1E2761"/>
          </a:solidFill>
          <a:ln/>
        </p:spPr>
      </p:sp>
      <p:sp>
        <p:nvSpPr>
          <p:cNvPr id="37" name="Text 35"/>
          <p:cNvSpPr/>
          <p:nvPr/>
        </p:nvSpPr>
        <p:spPr>
          <a:xfrm>
            <a:off x="3931920" y="32004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RESTful API</a:t>
            </a:r>
            <a:endParaRPr lang="en-US" sz="1000" dirty="0"/>
          </a:p>
        </p:txBody>
      </p:sp>
      <p:sp>
        <p:nvSpPr>
          <p:cNvPr id="3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spc="100" kern="0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02 系统模块架构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914400" y="1371600"/>
            <a:ext cx="1645920" cy="91440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38100" dist="25400" dir="27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37160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认证模块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(auth)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0" y="1371600"/>
            <a:ext cx="1645920" cy="914400"/>
          </a:xfrm>
          <a:prstGeom prst="rect">
            <a:avLst/>
          </a:prstGeom>
          <a:solidFill>
            <a:srgbClr val="4A90E2"/>
          </a:solidFill>
          <a:ln/>
          <a:effectLst>
            <a:outerShdw sx="100000" sy="100000" kx="0" ky="0" algn="bl" rotWithShape="0" blurRad="38100" dist="25400" dir="27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0" y="137160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宿舍模块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(dorm)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0" y="1371600"/>
            <a:ext cx="1645920" cy="914400"/>
          </a:xfrm>
          <a:prstGeom prst="rect">
            <a:avLst/>
          </a:prstGeom>
          <a:solidFill>
            <a:srgbClr val="2C5F2D"/>
          </a:solidFill>
          <a:ln/>
          <a:effectLst>
            <a:outerShdw sx="100000" sy="100000" kx="0" ky="0" algn="bl" rotWithShape="0" blurRad="38100" dist="25400" dir="27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0" y="137160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学生模块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(student)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0" y="1371600"/>
            <a:ext cx="1645920" cy="914400"/>
          </a:xfrm>
          <a:prstGeom prst="rect">
            <a:avLst/>
          </a:prstGeom>
          <a:solidFill>
            <a:srgbClr val="B85042"/>
          </a:solidFill>
          <a:ln/>
          <a:effectLst>
            <a:outerShdw sx="100000" sy="100000" kx="0" ky="0" algn="bl" rotWithShape="0" blurRad="38100" dist="25400" dir="27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0" y="137160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报修模块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(repair)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2743200"/>
            <a:ext cx="1645920" cy="914400"/>
          </a:xfrm>
          <a:prstGeom prst="rect">
            <a:avLst/>
          </a:prstGeom>
          <a:solidFill>
            <a:srgbClr val="6D2E46"/>
          </a:solidFill>
          <a:ln/>
          <a:effectLst>
            <a:outerShdw sx="100000" sy="100000" kx="0" ky="0" algn="bl" rotWithShape="0" blurRad="38100" dist="25400" dir="27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400" y="274320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公告模块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(notice)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43200" y="2743200"/>
            <a:ext cx="5303520" cy="91440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0" y="274320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公共模块 (common): Result统一响应 | 全局异常处理 | 配置管理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4400" y="3931920"/>
            <a:ext cx="7315200" cy="64008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931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8.0 数据库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737360" y="2286000"/>
            <a:ext cx="0" cy="457200"/>
          </a:xfrm>
          <a:prstGeom prst="line">
            <a:avLst/>
          </a:prstGeom>
          <a:noFill/>
          <a:ln w="12700">
            <a:solidFill>
              <a:srgbClr val="1E2761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3566160" y="2286000"/>
            <a:ext cx="0" cy="457200"/>
          </a:xfrm>
          <a:prstGeom prst="line">
            <a:avLst/>
          </a:prstGeom>
          <a:noFill/>
          <a:ln w="12700">
            <a:solidFill>
              <a:srgbClr val="1E2761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5394960" y="2286000"/>
            <a:ext cx="0" cy="457200"/>
          </a:xfrm>
          <a:prstGeom prst="line">
            <a:avLst/>
          </a:prstGeom>
          <a:noFill/>
          <a:ln w="12700">
            <a:solidFill>
              <a:srgbClr val="1E2761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7223760" y="2286000"/>
            <a:ext cx="0" cy="457200"/>
          </a:xfrm>
          <a:prstGeom prst="line">
            <a:avLst/>
          </a:prstGeom>
          <a:noFill/>
          <a:ln w="12700">
            <a:solidFill>
              <a:srgbClr val="1E2761"/>
            </a:solidFill>
            <a:prstDash val="dash"/>
          </a:ln>
        </p:spPr>
      </p:sp>
      <p:sp>
        <p:nvSpPr>
          <p:cNvPr id="22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spc="100" kern="0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03 系统功能模块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560320" cy="1645920"/>
          </a:xfrm>
          <a:prstGeom prst="rect">
            <a:avLst/>
          </a:prstGeom>
          <a:solidFill>
            <a:srgbClr val="F5F5F5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97280"/>
            <a:ext cx="256032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用户认证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• 用户登录/注销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• Token认证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• 角色权限控制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097280"/>
            <a:ext cx="2560320" cy="1645920"/>
          </a:xfrm>
          <a:prstGeom prst="rect">
            <a:avLst/>
          </a:prstGeom>
          <a:solidFill>
            <a:srgbClr val="F5F5F5"/>
          </a:solidFill>
          <a:ln w="25400">
            <a:solidFill>
              <a:srgbClr val="4A90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1097280"/>
            <a:ext cx="2560320" cy="457200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0" y="10972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楼栋管理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83280" y="16459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• 楼栋信息CRUD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83280" y="19659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• 位置信息维护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83280" y="22860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• 楼栋列表查询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43600" y="1097280"/>
            <a:ext cx="2560320" cy="1645920"/>
          </a:xfrm>
          <a:prstGeom prst="rect">
            <a:avLst/>
          </a:prstGeom>
          <a:solidFill>
            <a:srgbClr val="F5F5F5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0" y="1097280"/>
            <a:ext cx="2560320" cy="4572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0" y="10972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房间管理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26480" y="16459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• 房间容量设置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26480" y="19659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• 入住情况统计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26480" y="22860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• 值日生安排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2926080"/>
            <a:ext cx="2560320" cy="1645920"/>
          </a:xfrm>
          <a:prstGeom prst="rect">
            <a:avLst/>
          </a:prstGeom>
          <a:solidFill>
            <a:srgbClr val="F5F5F5"/>
          </a:solidFill>
          <a:ln w="25400">
            <a:solidFill>
              <a:srgbClr val="B8504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2926080"/>
            <a:ext cx="2560320" cy="4572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29260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学生管理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" y="34747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• 学生信息维护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" y="37947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• 宿舍分配/移除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" y="41148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• 按房间查询学生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00400" y="2926080"/>
            <a:ext cx="2560320" cy="1645920"/>
          </a:xfrm>
          <a:prstGeom prst="rect">
            <a:avLst/>
          </a:prstGeom>
          <a:solidFill>
            <a:srgbClr val="F5F5F5"/>
          </a:solidFill>
          <a:ln w="25400">
            <a:solidFill>
              <a:srgbClr val="6D2E4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2926080"/>
            <a:ext cx="2560320" cy="4572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0" name="Text 28"/>
          <p:cNvSpPr/>
          <p:nvPr/>
        </p:nvSpPr>
        <p:spPr>
          <a:xfrm>
            <a:off x="3200400" y="29260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报修管理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383280" y="34747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• 报修申请提交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383280" y="37947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• 状态跟踪更新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383280" y="41148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• 处理人分配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943600" y="2926080"/>
            <a:ext cx="2560320" cy="1645920"/>
          </a:xfrm>
          <a:prstGeom prst="rect">
            <a:avLst/>
          </a:prstGeom>
          <a:solidFill>
            <a:srgbClr val="F5F5F5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943600" y="2926080"/>
            <a:ext cx="2560320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6" name="Text 34"/>
          <p:cNvSpPr/>
          <p:nvPr/>
        </p:nvSpPr>
        <p:spPr>
          <a:xfrm>
            <a:off x="5943600" y="29260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公告管理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126480" y="34747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• 公告发布/编辑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126480" y="37947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• 时间排序展示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126480" y="41148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• 内容管理</a:t>
            </a:r>
            <a:endParaRPr lang="en-US" sz="1100" dirty="0"/>
          </a:p>
        </p:txBody>
      </p:sp>
      <p:sp>
        <p:nvSpPr>
          <p:cNvPr id="40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spc="100" kern="0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04 数据库设计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286000" cy="1371600"/>
          </a:xfrm>
          <a:prstGeom prst="rect">
            <a:avLst/>
          </a:prstGeom>
          <a:solidFill>
            <a:srgbClr val="F5F5F5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97280"/>
            <a:ext cx="2286000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sys_user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id, username, password,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role, status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1097280"/>
            <a:ext cx="2286000" cy="1371600"/>
          </a:xfrm>
          <a:prstGeom prst="rect">
            <a:avLst/>
          </a:prstGeom>
          <a:solidFill>
            <a:srgbClr val="F5F5F5"/>
          </a:solidFill>
          <a:ln w="25400">
            <a:solidFill>
              <a:srgbClr val="4A90E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1097280"/>
            <a:ext cx="2286000" cy="365760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0" y="1097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dorm_building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91840" y="155448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id, name, location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0" y="1097280"/>
            <a:ext cx="2286000" cy="1371600"/>
          </a:xfrm>
          <a:prstGeom prst="rect">
            <a:avLst/>
          </a:prstGeom>
          <a:solidFill>
            <a:srgbClr val="F5F5F5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0" y="1097280"/>
            <a:ext cx="2286000" cy="3657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0" y="1097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dorm_room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035040" y="155448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id, building_id,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room_number, capacity,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current_count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926080"/>
            <a:ext cx="2286000" cy="1371600"/>
          </a:xfrm>
          <a:prstGeom prst="rect">
            <a:avLst/>
          </a:prstGeom>
          <a:solidFill>
            <a:srgbClr val="F5F5F5"/>
          </a:solidFill>
          <a:ln w="25400">
            <a:solidFill>
              <a:srgbClr val="B8504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926080"/>
            <a:ext cx="2286000" cy="36576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9260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338328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id, user_id, name,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gender, phone, major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0" y="2926080"/>
            <a:ext cx="2286000" cy="1371600"/>
          </a:xfrm>
          <a:prstGeom prst="rect">
            <a:avLst/>
          </a:prstGeom>
          <a:solidFill>
            <a:srgbClr val="F5F5F5"/>
          </a:solidFill>
          <a:ln w="25400">
            <a:solidFill>
              <a:srgbClr val="6D2E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2926080"/>
            <a:ext cx="2286000" cy="36576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22" name="Text 20"/>
          <p:cNvSpPr/>
          <p:nvPr/>
        </p:nvSpPr>
        <p:spPr>
          <a:xfrm>
            <a:off x="3200400" y="29260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student_dorm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91840" y="338328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id, student_id,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room_id, check_in_date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943600" y="2926080"/>
            <a:ext cx="2286000" cy="1371600"/>
          </a:xfrm>
          <a:prstGeom prst="rect">
            <a:avLst/>
          </a:prstGeom>
          <a:solidFill>
            <a:srgbClr val="F5F5F5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0" y="2926080"/>
            <a:ext cx="2286000" cy="3657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0" y="29260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repair_order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035040" y="338328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id, student_id,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room_id, description,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status, handler_id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0" y="1828800"/>
            <a:ext cx="457200" cy="0"/>
          </a:xfrm>
          <a:prstGeom prst="line">
            <a:avLst/>
          </a:prstGeom>
          <a:noFill/>
          <a:ln w="12700">
            <a:solidFill>
              <a:srgbClr val="36454F"/>
            </a:solidFill>
            <a:prstDash val="solid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2560320" y="164592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36454F"/>
                </a:solidFill>
              </a:rPr>
              <a:t>1:N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486400" y="1828800"/>
            <a:ext cx="457200" cy="0"/>
          </a:xfrm>
          <a:prstGeom prst="line">
            <a:avLst/>
          </a:prstGeom>
          <a:noFill/>
          <a:ln w="12700">
            <a:solidFill>
              <a:srgbClr val="36454F"/>
            </a:solidFill>
            <a:prstDash val="solid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5303520" y="164592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36454F"/>
                </a:solidFill>
              </a:rPr>
              <a:t>1:N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1600200" y="2468880"/>
            <a:ext cx="0" cy="457200"/>
          </a:xfrm>
          <a:prstGeom prst="line">
            <a:avLst/>
          </a:prstGeom>
          <a:noFill/>
          <a:ln w="12700">
            <a:solidFill>
              <a:srgbClr val="36454F"/>
            </a:solidFill>
            <a:prstDash val="solid"/>
            <a:tailEnd type="triangle"/>
          </a:ln>
        </p:spPr>
      </p:sp>
      <p:sp>
        <p:nvSpPr>
          <p:cNvPr id="33" name="Text 31"/>
          <p:cNvSpPr/>
          <p:nvPr/>
        </p:nvSpPr>
        <p:spPr>
          <a:xfrm>
            <a:off x="1371600" y="265176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36454F"/>
                </a:solidFill>
              </a:rPr>
              <a:t>1:1</a:t>
            </a:r>
            <a:endParaRPr lang="en-US" sz="800" dirty="0"/>
          </a:p>
        </p:txBody>
      </p:sp>
      <p:sp>
        <p:nvSpPr>
          <p:cNvPr id="34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spc="100" kern="0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04 核心数据表设计</a:t>
            </a:r>
            <a:endParaRPr lang="en-US" sz="2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657600"/>
        </p:xfrm>
        <a:graphic>
          <a:graphicData uri="http://schemas.openxmlformats.org/drawingml/2006/table">
            <a:tbl>
              <a:tblPr/>
              <a:tblGrid>
                <a:gridCol w="1828800"/>
                <a:gridCol w="3657600"/>
                <a:gridCol w="2743200"/>
              </a:tblGrid>
              <a:tr h="406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imSun" pitchFamily="34" charset="0"/>
                          <a:ea typeface="SimSun" pitchFamily="34" charset="-122"/>
                          <a:cs typeface="SimSun" pitchFamily="34" charset="-120"/>
                        </a:rPr>
                        <a:t>表名</a:t>
                      </a:r>
                      <a:endParaRPr lang="en-US" sz="1100" dirty="0">
                        <a:latin typeface="SimSun" charset="0"/>
                        <a:ea typeface="SimSun" charset="0"/>
                        <a:cs typeface="SimSu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imSun" pitchFamily="34" charset="0"/>
                          <a:ea typeface="SimSun" pitchFamily="34" charset="-122"/>
                          <a:cs typeface="SimSun" pitchFamily="34" charset="-120"/>
                        </a:rPr>
                        <a:t>主要字段</a:t>
                      </a:r>
                      <a:endParaRPr lang="en-US" sz="1100" dirty="0">
                        <a:latin typeface="SimSun" charset="0"/>
                        <a:ea typeface="SimSun" charset="0"/>
                        <a:cs typeface="SimSu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imSun" pitchFamily="34" charset="0"/>
                          <a:ea typeface="SimSun" pitchFamily="34" charset="-122"/>
                          <a:cs typeface="SimSun" pitchFamily="34" charset="-120"/>
                        </a:rPr>
                        <a:t>说明</a:t>
                      </a:r>
                      <a:endParaRPr lang="en-US" sz="1100" dirty="0">
                        <a:latin typeface="SimSun" charset="0"/>
                        <a:ea typeface="SimSun" charset="0"/>
                        <a:cs typeface="SimSu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SimSun" pitchFamily="34" charset="0"/>
                          <a:ea typeface="SimSun" pitchFamily="34" charset="-122"/>
                          <a:cs typeface="SimSun" pitchFamily="34" charset="-120"/>
                        </a:rPr>
                        <a:t>sys_user</a:t>
                      </a:r>
                      <a:endParaRPr lang="en-US" sz="1100" dirty="0">
                        <a:latin typeface="SimSun" charset="0"/>
                        <a:ea typeface="SimSun" charset="0"/>
                        <a:cs typeface="SimSu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SimSun" pitchFamily="34" charset="0"/>
                          <a:ea typeface="SimSun" pitchFamily="34" charset="-122"/>
                          <a:cs typeface="SimSun" pitchFamily="34" charset="-120"/>
                        </a:rPr>
                        <a:t>id, username, password, role, status</a:t>
                      </a:r>
                      <a:endParaRPr lang="en-US" sz="1100" dirty="0">
                        <a:latin typeface="SimSun" charset="0"/>
                        <a:ea typeface="SimSun" charset="0"/>
                        <a:cs typeface="SimSu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SimSun" pitchFamily="34" charset="0"/>
                          <a:ea typeface="SimSun" pitchFamily="34" charset="-122"/>
                          <a:cs typeface="SimSun" pitchFamily="34" charset="-120"/>
                        </a:rPr>
                        <a:t>用户账号表，存储登录信息</a:t>
                      </a:r>
                      <a:endParaRPr lang="en-US" sz="1100" dirty="0">
                        <a:latin typeface="SimSun" charset="0"/>
                        <a:ea typeface="SimSun" charset="0"/>
                        <a:cs typeface="SimSu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SimSun" pitchFamily="34" charset="0"/>
                          <a:ea typeface="SimSun" pitchFamily="34" charset="-122"/>
                          <a:cs typeface="SimSun" pitchFamily="34" charset="-120"/>
                        </a:rPr>
                        <a:t>dorm_building</a:t>
                      </a:r>
                      <a:endParaRPr lang="en-US" sz="1100" dirty="0">
                        <a:latin typeface="SimSun" charset="0"/>
                        <a:ea typeface="SimSun" charset="0"/>
                        <a:cs typeface="SimSu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SimSun" pitchFamily="34" charset="0"/>
                          <a:ea typeface="SimSun" pitchFamily="34" charset="-122"/>
                          <a:cs typeface="SimSun" pitchFamily="34" charset="-120"/>
                        </a:rPr>
                        <a:t>id, name, location</a:t>
                      </a:r>
                      <a:endParaRPr lang="en-US" sz="1100" dirty="0">
                        <a:latin typeface="SimSun" charset="0"/>
                        <a:ea typeface="SimSun" charset="0"/>
                        <a:cs typeface="SimSu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SimSun" pitchFamily="34" charset="0"/>
                          <a:ea typeface="SimSun" pitchFamily="34" charset="-122"/>
                          <a:cs typeface="SimSun" pitchFamily="34" charset="-120"/>
                        </a:rPr>
                        <a:t>楼栋信息表</a:t>
                      </a:r>
                      <a:endParaRPr lang="en-US" sz="1100" dirty="0">
                        <a:latin typeface="SimSun" charset="0"/>
                        <a:ea typeface="SimSun" charset="0"/>
                        <a:cs typeface="SimSu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SimSun" pitchFamily="34" charset="0"/>
                          <a:ea typeface="SimSun" pitchFamily="34" charset="-122"/>
                          <a:cs typeface="SimSun" pitchFamily="34" charset="-120"/>
                        </a:rPr>
                        <a:t>dorm_room</a:t>
                      </a:r>
                      <a:endParaRPr lang="en-US" sz="1100" dirty="0">
                        <a:latin typeface="SimSun" charset="0"/>
                        <a:ea typeface="SimSun" charset="0"/>
                        <a:cs typeface="SimSu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SimSun" pitchFamily="34" charset="0"/>
                          <a:ea typeface="SimSun" pitchFamily="34" charset="-122"/>
                          <a:cs typeface="SimSun" pitchFamily="34" charset="-120"/>
                        </a:rPr>
                        <a:t>id, building_id, room_number, capacity</a:t>
                      </a:r>
                      <a:endParaRPr lang="en-US" sz="1100" dirty="0">
                        <a:latin typeface="SimSun" charset="0"/>
                        <a:ea typeface="SimSun" charset="0"/>
                        <a:cs typeface="SimSu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SimSun" pitchFamily="34" charset="0"/>
                          <a:ea typeface="SimSun" pitchFamily="34" charset="-122"/>
                          <a:cs typeface="SimSun" pitchFamily="34" charset="-120"/>
                        </a:rPr>
                        <a:t>房间信息表，关联楼栋</a:t>
                      </a:r>
                      <a:endParaRPr lang="en-US" sz="1100" dirty="0">
                        <a:latin typeface="SimSun" charset="0"/>
                        <a:ea typeface="SimSun" charset="0"/>
                        <a:cs typeface="SimSu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SimSun" pitchFamily="34" charset="0"/>
                          <a:ea typeface="SimSun" pitchFamily="34" charset="-122"/>
                          <a:cs typeface="SimSun" pitchFamily="34" charset="-120"/>
                        </a:rPr>
                        <a:t>student</a:t>
                      </a:r>
                      <a:endParaRPr lang="en-US" sz="1100" dirty="0">
                        <a:latin typeface="SimSun" charset="0"/>
                        <a:ea typeface="SimSun" charset="0"/>
                        <a:cs typeface="SimSu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SimSun" pitchFamily="34" charset="0"/>
                          <a:ea typeface="SimSun" pitchFamily="34" charset="-122"/>
                          <a:cs typeface="SimSun" pitchFamily="34" charset="-120"/>
                        </a:rPr>
                        <a:t>id, user_id, name, gender, phone</a:t>
                      </a:r>
                      <a:endParaRPr lang="en-US" sz="1100" dirty="0">
                        <a:latin typeface="SimSun" charset="0"/>
                        <a:ea typeface="SimSun" charset="0"/>
                        <a:cs typeface="SimSu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SimSun" pitchFamily="34" charset="0"/>
                          <a:ea typeface="SimSun" pitchFamily="34" charset="-122"/>
                          <a:cs typeface="SimSun" pitchFamily="34" charset="-120"/>
                        </a:rPr>
                        <a:t>学生信息表，关联用户账号</a:t>
                      </a:r>
                      <a:endParaRPr lang="en-US" sz="1100" dirty="0">
                        <a:latin typeface="SimSun" charset="0"/>
                        <a:ea typeface="SimSun" charset="0"/>
                        <a:cs typeface="SimSu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SimSun" pitchFamily="34" charset="0"/>
                          <a:ea typeface="SimSun" pitchFamily="34" charset="-122"/>
                          <a:cs typeface="SimSun" pitchFamily="34" charset="-120"/>
                        </a:rPr>
                        <a:t>student_dorm</a:t>
                      </a:r>
                      <a:endParaRPr lang="en-US" sz="1100" dirty="0">
                        <a:latin typeface="SimSun" charset="0"/>
                        <a:ea typeface="SimSun" charset="0"/>
                        <a:cs typeface="SimSu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SimSun" pitchFamily="34" charset="0"/>
                          <a:ea typeface="SimSun" pitchFamily="34" charset="-122"/>
                          <a:cs typeface="SimSun" pitchFamily="34" charset="-120"/>
                        </a:rPr>
                        <a:t>id, student_id, room_id, check_in_date</a:t>
                      </a:r>
                      <a:endParaRPr lang="en-US" sz="1100" dirty="0">
                        <a:latin typeface="SimSun" charset="0"/>
                        <a:ea typeface="SimSun" charset="0"/>
                        <a:cs typeface="SimSu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SimSun" pitchFamily="34" charset="0"/>
                          <a:ea typeface="SimSun" pitchFamily="34" charset="-122"/>
                          <a:cs typeface="SimSun" pitchFamily="34" charset="-120"/>
                        </a:rPr>
                        <a:t>住宿分配关系表</a:t>
                      </a:r>
                      <a:endParaRPr lang="en-US" sz="1100" dirty="0">
                        <a:latin typeface="SimSun" charset="0"/>
                        <a:ea typeface="SimSun" charset="0"/>
                        <a:cs typeface="SimSu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SimSun" pitchFamily="34" charset="0"/>
                          <a:ea typeface="SimSun" pitchFamily="34" charset="-122"/>
                          <a:cs typeface="SimSun" pitchFamily="34" charset="-120"/>
                        </a:rPr>
                        <a:t>repair_order</a:t>
                      </a:r>
                      <a:endParaRPr lang="en-US" sz="1100" dirty="0">
                        <a:latin typeface="SimSun" charset="0"/>
                        <a:ea typeface="SimSun" charset="0"/>
                        <a:cs typeface="SimSu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SimSun" pitchFamily="34" charset="0"/>
                          <a:ea typeface="SimSun" pitchFamily="34" charset="-122"/>
                          <a:cs typeface="SimSun" pitchFamily="34" charset="-120"/>
                        </a:rPr>
                        <a:t>id, student_id, room_id, status</a:t>
                      </a:r>
                      <a:endParaRPr lang="en-US" sz="1100" dirty="0">
                        <a:latin typeface="SimSun" charset="0"/>
                        <a:ea typeface="SimSun" charset="0"/>
                        <a:cs typeface="SimSu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SimSun" pitchFamily="34" charset="0"/>
                          <a:ea typeface="SimSun" pitchFamily="34" charset="-122"/>
                          <a:cs typeface="SimSun" pitchFamily="34" charset="-120"/>
                        </a:rPr>
                        <a:t>报修工单表</a:t>
                      </a:r>
                      <a:endParaRPr lang="en-US" sz="1100" dirty="0">
                        <a:latin typeface="SimSun" charset="0"/>
                        <a:ea typeface="SimSun" charset="0"/>
                        <a:cs typeface="SimSu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SimSun" pitchFamily="34" charset="0"/>
                          <a:ea typeface="SimSun" pitchFamily="34" charset="-122"/>
                          <a:cs typeface="SimSun" pitchFamily="34" charset="-120"/>
                        </a:rPr>
                        <a:t>notice</a:t>
                      </a:r>
                      <a:endParaRPr lang="en-US" sz="1100" dirty="0">
                        <a:latin typeface="SimSun" charset="0"/>
                        <a:ea typeface="SimSun" charset="0"/>
                        <a:cs typeface="SimSu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SimSun" pitchFamily="34" charset="0"/>
                          <a:ea typeface="SimSun" pitchFamily="34" charset="-122"/>
                          <a:cs typeface="SimSun" pitchFamily="34" charset="-120"/>
                        </a:rPr>
                        <a:t>id, title, content, publish_time</a:t>
                      </a:r>
                      <a:endParaRPr lang="en-US" sz="1100" dirty="0">
                        <a:latin typeface="SimSun" charset="0"/>
                        <a:ea typeface="SimSun" charset="0"/>
                        <a:cs typeface="SimSu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SimSun" pitchFamily="34" charset="0"/>
                          <a:ea typeface="SimSun" pitchFamily="34" charset="-122"/>
                          <a:cs typeface="SimSun" pitchFamily="34" charset="-120"/>
                        </a:rPr>
                        <a:t>公告通知表</a:t>
                      </a:r>
                      <a:endParaRPr lang="en-US" sz="1100" dirty="0">
                        <a:latin typeface="SimSun" charset="0"/>
                        <a:ea typeface="SimSun" charset="0"/>
                        <a:cs typeface="SimSu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SimSun" pitchFamily="34" charset="0"/>
                          <a:ea typeface="SimSun" pitchFamily="34" charset="-122"/>
                          <a:cs typeface="SimSun" pitchFamily="34" charset="-120"/>
                        </a:rPr>
                        <a:t>room_duty</a:t>
                      </a:r>
                      <a:endParaRPr lang="en-US" sz="1100" dirty="0">
                        <a:latin typeface="SimSun" charset="0"/>
                        <a:ea typeface="SimSun" charset="0"/>
                        <a:cs typeface="SimSu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SimSun" pitchFamily="34" charset="0"/>
                          <a:ea typeface="SimSun" pitchFamily="34" charset="-122"/>
                          <a:cs typeface="SimSun" pitchFamily="34" charset="-120"/>
                        </a:rPr>
                        <a:t>id, room_id, student_id, duty_date</a:t>
                      </a:r>
                      <a:endParaRPr lang="en-US" sz="1100" dirty="0">
                        <a:latin typeface="SimSun" charset="0"/>
                        <a:ea typeface="SimSun" charset="0"/>
                        <a:cs typeface="SimSu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SimSun" pitchFamily="34" charset="0"/>
                          <a:ea typeface="SimSun" pitchFamily="34" charset="-122"/>
                          <a:cs typeface="SimSun" pitchFamily="34" charset="-120"/>
                        </a:rPr>
                        <a:t>值日生安排表</a:t>
                      </a:r>
                      <a:endParaRPr lang="en-US" sz="1100" dirty="0">
                        <a:latin typeface="SimSun" charset="0"/>
                        <a:ea typeface="SimSun" charset="0"/>
                        <a:cs typeface="SimSu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spc="100" kern="0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05 安全认证机制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Sa-Token 认证流程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1645920" cy="1097280"/>
          </a:xfrm>
          <a:prstGeom prst="rect">
            <a:avLst/>
          </a:prstGeom>
          <a:solidFill>
            <a:srgbClr val="F5F5F5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737360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737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1031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用户登录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377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提交用户名密码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68880" y="2011680"/>
            <a:ext cx="640080" cy="365760"/>
          </a:xfrm>
          <a:prstGeom prst="rightArrow">
            <a:avLst/>
          </a:prstGeom>
          <a:solidFill>
            <a:srgbClr val="4A90E2"/>
          </a:solidFill>
          <a:ln/>
        </p:spPr>
      </p:sp>
      <p:sp>
        <p:nvSpPr>
          <p:cNvPr id="11" name="Shape 9"/>
          <p:cNvSpPr/>
          <p:nvPr/>
        </p:nvSpPr>
        <p:spPr>
          <a:xfrm>
            <a:off x="2560320" y="1645920"/>
            <a:ext cx="1645920" cy="1097280"/>
          </a:xfrm>
          <a:prstGeom prst="rect">
            <a:avLst/>
          </a:prstGeom>
          <a:solidFill>
            <a:srgbClr val="F5F5F5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51760" y="1737360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2651760" y="1737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60320" y="21031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密码验证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60320" y="2377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BCrypt哈希校验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297680" y="2011680"/>
            <a:ext cx="640080" cy="365760"/>
          </a:xfrm>
          <a:prstGeom prst="rightArrow">
            <a:avLst/>
          </a:prstGeom>
          <a:solidFill>
            <a:srgbClr val="4A90E2"/>
          </a:solidFill>
          <a:ln/>
        </p:spPr>
      </p:sp>
      <p:sp>
        <p:nvSpPr>
          <p:cNvPr id="17" name="Shape 15"/>
          <p:cNvSpPr/>
          <p:nvPr/>
        </p:nvSpPr>
        <p:spPr>
          <a:xfrm>
            <a:off x="4389120" y="1645920"/>
            <a:ext cx="1645920" cy="1097280"/>
          </a:xfrm>
          <a:prstGeom prst="rect">
            <a:avLst/>
          </a:prstGeom>
          <a:solidFill>
            <a:srgbClr val="F5F5F5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80560" y="1737360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4480560" y="1737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389120" y="21031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生成Token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389120" y="2377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StpUtil.login()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26480" y="2011680"/>
            <a:ext cx="640080" cy="365760"/>
          </a:xfrm>
          <a:prstGeom prst="rightArrow">
            <a:avLst/>
          </a:prstGeom>
          <a:solidFill>
            <a:srgbClr val="4A90E2"/>
          </a:solidFill>
          <a:ln/>
        </p:spPr>
      </p:sp>
      <p:sp>
        <p:nvSpPr>
          <p:cNvPr id="23" name="Shape 21"/>
          <p:cNvSpPr/>
          <p:nvPr/>
        </p:nvSpPr>
        <p:spPr>
          <a:xfrm>
            <a:off x="6217920" y="1645920"/>
            <a:ext cx="1645920" cy="1097280"/>
          </a:xfrm>
          <a:prstGeom prst="rect">
            <a:avLst/>
          </a:prstGeom>
          <a:solidFill>
            <a:srgbClr val="F5F5F5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09360" y="1737360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6309360" y="1737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17920" y="21031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返回Token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17920" y="2377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前端存储Token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安全特性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57200" y="3474720"/>
            <a:ext cx="1828800" cy="1188720"/>
          </a:xfrm>
          <a:prstGeom prst="rect">
            <a:avLst/>
          </a:prstGeom>
          <a:solidFill>
            <a:srgbClr val="F5F5F5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35661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🔐 BCrypt密码哈希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640" y="39776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单向加密，防止密码泄露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514600" y="3474720"/>
            <a:ext cx="1828800" cy="1188720"/>
          </a:xfrm>
          <a:prstGeom prst="rect">
            <a:avLst/>
          </a:prstGeom>
          <a:solidFill>
            <a:srgbClr val="F5F5F5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606040" y="35661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🛡️ Token认证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606040" y="39776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无状态认证，支持分布式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0" y="3474720"/>
            <a:ext cx="1828800" cy="1188720"/>
          </a:xfrm>
          <a:prstGeom prst="rect">
            <a:avLst/>
          </a:prstGeom>
          <a:solidFill>
            <a:srgbClr val="F5F5F5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63440" y="35661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👤 角色权限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663440" y="39776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ADMIN/dorm_admin角色区分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629400" y="3474720"/>
            <a:ext cx="1828800" cy="1188720"/>
          </a:xfrm>
          <a:prstGeom prst="rect">
            <a:avLst/>
          </a:prstGeom>
          <a:solidFill>
            <a:srgbClr val="F5F5F5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20840" y="35661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🔒 接口拦截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720840" y="39776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除登录外所有接口需认证</a:t>
            </a:r>
            <a:endParaRPr lang="en-US" sz="1000" dirty="0"/>
          </a:p>
        </p:txBody>
      </p:sp>
      <p:sp>
        <p:nvSpPr>
          <p:cNvPr id="41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spc="100" kern="0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06 系统演示 - 登录界面</a:t>
            </a:r>
            <a:endParaRPr lang="en-US" sz="2400" dirty="0"/>
          </a:p>
        </p:txBody>
      </p:sp>
      <p:pic>
        <p:nvPicPr>
          <p:cNvPr id="4" name="Image 0" descr="c:/Users/86138/AppData/Local/Temp/trae/screenshots/login_p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0" y="914400"/>
            <a:ext cx="4572000" cy="3657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097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登录界面特点：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146304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6454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• 居中卡片式布局
</a:t>
            </a:r>
            <a:pPr algn="l" indent="0" marL="0">
              <a:buNone/>
            </a:pPr>
            <a:r>
              <a:rPr lang="en-US" sz="1200" dirty="0">
                <a:solidFill>
                  <a:srgbClr val="36454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• 扁平化设计风格
</a:t>
            </a:r>
            <a:pPr algn="l" indent="0" marL="0">
              <a:buNone/>
            </a:pPr>
            <a:r>
              <a:rPr lang="en-US" sz="1200" dirty="0">
                <a:solidFill>
                  <a:srgbClr val="36454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• Element Plus组件
</a:t>
            </a:r>
            <a:pPr algn="l" indent="0" marL="0">
              <a:buNone/>
            </a:pPr>
            <a:r>
              <a:rPr lang="en-US" sz="1200" dirty="0">
                <a:solidFill>
                  <a:srgbClr val="36454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• 响应式适配
</a:t>
            </a:r>
            <a:endParaRPr lang="en-US" sz="1200" dirty="0"/>
          </a:p>
        </p:txBody>
      </p:sp>
      <p:sp>
        <p:nvSpPr>
          <p:cNvPr id="7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spc="100" kern="0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06 API接口文档</a:t>
            </a:r>
            <a:endParaRPr lang="en-US" sz="2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2743200"/>
        </p:xfrm>
        <a:graphic>
          <a:graphicData uri="http://schemas.openxmlformats.org/drawingml/2006/table">
            <a:tbl>
              <a:tblPr/>
              <a:tblGrid>
                <a:gridCol w="1371600"/>
                <a:gridCol w="3200400"/>
                <a:gridCol w="3657600"/>
              </a:tblGrid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imSun" pitchFamily="34" charset="0"/>
                          <a:ea typeface="SimSun" pitchFamily="34" charset="-122"/>
                          <a:cs typeface="SimSun" pitchFamily="34" charset="-120"/>
                        </a:rPr>
                        <a:t>模块</a:t>
                      </a:r>
                      <a:endParaRPr lang="en-US" sz="1200" dirty="0">
                        <a:latin typeface="SimSun" charset="0"/>
                        <a:ea typeface="SimSun" charset="0"/>
                        <a:cs typeface="SimSu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imSun" pitchFamily="34" charset="0"/>
                          <a:ea typeface="SimSun" pitchFamily="34" charset="-122"/>
                          <a:cs typeface="SimSun" pitchFamily="34" charset="-120"/>
                        </a:rPr>
                        <a:t>接口路径</a:t>
                      </a:r>
                      <a:endParaRPr lang="en-US" sz="1200" dirty="0">
                        <a:latin typeface="SimSun" charset="0"/>
                        <a:ea typeface="SimSun" charset="0"/>
                        <a:cs typeface="SimSu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imSun" pitchFamily="34" charset="0"/>
                          <a:ea typeface="SimSun" pitchFamily="34" charset="-122"/>
                          <a:cs typeface="SimSun" pitchFamily="34" charset="-120"/>
                        </a:rPr>
                        <a:t>功能说明</a:t>
                      </a:r>
                      <a:endParaRPr lang="en-US" sz="1200" dirty="0">
                        <a:latin typeface="SimSun" charset="0"/>
                        <a:ea typeface="SimSun" charset="0"/>
                        <a:cs typeface="SimSu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SimSun" pitchFamily="34" charset="0"/>
                          <a:ea typeface="SimSun" pitchFamily="34" charset="-122"/>
                          <a:cs typeface="SimSun" pitchFamily="34" charset="-120"/>
                        </a:rPr>
                        <a:t>认证模块</a:t>
                      </a:r>
                      <a:endParaRPr lang="en-US" sz="1200" dirty="0">
                        <a:latin typeface="SimSun" charset="0"/>
                        <a:ea typeface="SimSun" charset="0"/>
                        <a:cs typeface="SimSu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SimSun" pitchFamily="34" charset="0"/>
                          <a:ea typeface="SimSun" pitchFamily="34" charset="-122"/>
                          <a:cs typeface="SimSun" pitchFamily="34" charset="-120"/>
                        </a:rPr>
                        <a:t>/auth/login, /auth/logout</a:t>
                      </a:r>
                      <a:endParaRPr lang="en-US" sz="1200" dirty="0">
                        <a:latin typeface="SimSun" charset="0"/>
                        <a:ea typeface="SimSun" charset="0"/>
                        <a:cs typeface="SimSu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SimSun" pitchFamily="34" charset="0"/>
                          <a:ea typeface="SimSun" pitchFamily="34" charset="-122"/>
                          <a:cs typeface="SimSun" pitchFamily="34" charset="-120"/>
                        </a:rPr>
                        <a:t>登录、注销、获取当前用户</a:t>
                      </a:r>
                      <a:endParaRPr lang="en-US" sz="1200" dirty="0">
                        <a:latin typeface="SimSun" charset="0"/>
                        <a:ea typeface="SimSun" charset="0"/>
                        <a:cs typeface="SimSu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SimSun" pitchFamily="34" charset="0"/>
                          <a:ea typeface="SimSun" pitchFamily="34" charset="-122"/>
                          <a:cs typeface="SimSun" pitchFamily="34" charset="-120"/>
                        </a:rPr>
                        <a:t>楼栋管理</a:t>
                      </a:r>
                      <a:endParaRPr lang="en-US" sz="1200" dirty="0">
                        <a:latin typeface="SimSun" charset="0"/>
                        <a:ea typeface="SimSun" charset="0"/>
                        <a:cs typeface="SimSu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SimSun" pitchFamily="34" charset="0"/>
                          <a:ea typeface="SimSun" pitchFamily="34" charset="-122"/>
                          <a:cs typeface="SimSun" pitchFamily="34" charset="-120"/>
                        </a:rPr>
                        <a:t>/dorm/buildings</a:t>
                      </a:r>
                      <a:endParaRPr lang="en-US" sz="1200" dirty="0">
                        <a:latin typeface="SimSun" charset="0"/>
                        <a:ea typeface="SimSun" charset="0"/>
                        <a:cs typeface="SimSu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SimSun" pitchFamily="34" charset="0"/>
                          <a:ea typeface="SimSun" pitchFamily="34" charset="-122"/>
                          <a:cs typeface="SimSun" pitchFamily="34" charset="-120"/>
                        </a:rPr>
                        <a:t>楼栋CRUD、列表查询</a:t>
                      </a:r>
                      <a:endParaRPr lang="en-US" sz="1200" dirty="0">
                        <a:latin typeface="SimSun" charset="0"/>
                        <a:ea typeface="SimSun" charset="0"/>
                        <a:cs typeface="SimSu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SimSun" pitchFamily="34" charset="0"/>
                          <a:ea typeface="SimSun" pitchFamily="34" charset="-122"/>
                          <a:cs typeface="SimSun" pitchFamily="34" charset="-120"/>
                        </a:rPr>
                        <a:t>房间管理</a:t>
                      </a:r>
                      <a:endParaRPr lang="en-US" sz="1200" dirty="0">
                        <a:latin typeface="SimSun" charset="0"/>
                        <a:ea typeface="SimSun" charset="0"/>
                        <a:cs typeface="SimSu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SimSun" pitchFamily="34" charset="0"/>
                          <a:ea typeface="SimSun" pitchFamily="34" charset="-122"/>
                          <a:cs typeface="SimSun" pitchFamily="34" charset="-120"/>
                        </a:rPr>
                        <a:t>/dorm/rooms</a:t>
                      </a:r>
                      <a:endParaRPr lang="en-US" sz="1200" dirty="0">
                        <a:latin typeface="SimSun" charset="0"/>
                        <a:ea typeface="SimSun" charset="0"/>
                        <a:cs typeface="SimSu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SimSun" pitchFamily="34" charset="0"/>
                          <a:ea typeface="SimSun" pitchFamily="34" charset="-122"/>
                          <a:cs typeface="SimSun" pitchFamily="34" charset="-120"/>
                        </a:rPr>
                        <a:t>房间分页查询、可用房间、CRUD</a:t>
                      </a:r>
                      <a:endParaRPr lang="en-US" sz="1200" dirty="0">
                        <a:latin typeface="SimSun" charset="0"/>
                        <a:ea typeface="SimSun" charset="0"/>
                        <a:cs typeface="SimSu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SimSun" pitchFamily="34" charset="0"/>
                          <a:ea typeface="SimSun" pitchFamily="34" charset="-122"/>
                          <a:cs typeface="SimSun" pitchFamily="34" charset="-120"/>
                        </a:rPr>
                        <a:t>学生管理</a:t>
                      </a:r>
                      <a:endParaRPr lang="en-US" sz="1200" dirty="0">
                        <a:latin typeface="SimSun" charset="0"/>
                        <a:ea typeface="SimSun" charset="0"/>
                        <a:cs typeface="SimSu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SimSun" pitchFamily="34" charset="0"/>
                          <a:ea typeface="SimSun" pitchFamily="34" charset="-122"/>
                          <a:cs typeface="SimSun" pitchFamily="34" charset="-120"/>
                        </a:rPr>
                        <a:t>/student</a:t>
                      </a:r>
                      <a:endParaRPr lang="en-US" sz="1200" dirty="0">
                        <a:latin typeface="SimSun" charset="0"/>
                        <a:ea typeface="SimSun" charset="0"/>
                        <a:cs typeface="SimSu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SimSun" pitchFamily="34" charset="0"/>
                          <a:ea typeface="SimSun" pitchFamily="34" charset="-122"/>
                          <a:cs typeface="SimSun" pitchFamily="34" charset="-120"/>
                        </a:rPr>
                        <a:t>学生CRUD、宿舍分配/移除</a:t>
                      </a:r>
                      <a:endParaRPr lang="en-US" sz="1200" dirty="0">
                        <a:latin typeface="SimSun" charset="0"/>
                        <a:ea typeface="SimSun" charset="0"/>
                        <a:cs typeface="SimSu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SimSun" pitchFamily="34" charset="0"/>
                          <a:ea typeface="SimSun" pitchFamily="34" charset="-122"/>
                          <a:cs typeface="SimSun" pitchFamily="34" charset="-120"/>
                        </a:rPr>
                        <a:t>报修管理</a:t>
                      </a:r>
                      <a:endParaRPr lang="en-US" sz="1200" dirty="0">
                        <a:latin typeface="SimSun" charset="0"/>
                        <a:ea typeface="SimSun" charset="0"/>
                        <a:cs typeface="SimSu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SimSun" pitchFamily="34" charset="0"/>
                          <a:ea typeface="SimSun" pitchFamily="34" charset="-122"/>
                          <a:cs typeface="SimSun" pitchFamily="34" charset="-120"/>
                        </a:rPr>
                        <a:t>/repair</a:t>
                      </a:r>
                      <a:endParaRPr lang="en-US" sz="1200" dirty="0">
                        <a:latin typeface="SimSun" charset="0"/>
                        <a:ea typeface="SimSun" charset="0"/>
                        <a:cs typeface="SimSu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SimSun" pitchFamily="34" charset="0"/>
                          <a:ea typeface="SimSun" pitchFamily="34" charset="-122"/>
                          <a:cs typeface="SimSun" pitchFamily="34" charset="-120"/>
                        </a:rPr>
                        <a:t>报修CRUD、状态更新、按学生查询</a:t>
                      </a:r>
                      <a:endParaRPr lang="en-US" sz="1200" dirty="0">
                        <a:latin typeface="SimSun" charset="0"/>
                        <a:ea typeface="SimSun" charset="0"/>
                        <a:cs typeface="SimSu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SimSun" pitchFamily="34" charset="0"/>
                          <a:ea typeface="SimSun" pitchFamily="34" charset="-122"/>
                          <a:cs typeface="SimSun" pitchFamily="34" charset="-120"/>
                        </a:rPr>
                        <a:t>公告管理</a:t>
                      </a:r>
                      <a:endParaRPr lang="en-US" sz="1200" dirty="0">
                        <a:latin typeface="SimSun" charset="0"/>
                        <a:ea typeface="SimSun" charset="0"/>
                        <a:cs typeface="SimSu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SimSun" pitchFamily="34" charset="0"/>
                          <a:ea typeface="SimSun" pitchFamily="34" charset="-122"/>
                          <a:cs typeface="SimSun" pitchFamily="34" charset="-120"/>
                        </a:rPr>
                        <a:t>/notice</a:t>
                      </a:r>
                      <a:endParaRPr lang="en-US" sz="1200" dirty="0">
                        <a:latin typeface="SimSun" charset="0"/>
                        <a:ea typeface="SimSun" charset="0"/>
                        <a:cs typeface="SimSu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SimSun" pitchFamily="34" charset="0"/>
                          <a:ea typeface="SimSun" pitchFamily="34" charset="-122"/>
                          <a:cs typeface="SimSun" pitchFamily="34" charset="-120"/>
                        </a:rPr>
                        <a:t>公告CRUD、列表查询</a:t>
                      </a:r>
                      <a:endParaRPr lang="en-US" sz="1200" dirty="0">
                        <a:latin typeface="SimSun" charset="0"/>
                        <a:ea typeface="SimSun" charset="0"/>
                        <a:cs typeface="SimSu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4A90E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API文档访问：http://localhost:8080/doc.html (Knife4j)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统一响应格式：Result&lt;T&gt; { code, msg, data }，成功code=0</a:t>
            </a:r>
            <a:endParaRPr lang="en-US" sz="1100" dirty="0"/>
          </a:p>
        </p:txBody>
      </p:sp>
      <p:sp>
        <p:nvSpPr>
          <p:cNvPr id="13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spc="100" kern="0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06 项目目录结构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后端目录结构 (server/)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src/main/java/com/dms/
</a:t>
            </a:r>
            <a:pPr algn="l"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common/     # 公共组件
</a:t>
            </a:r>
            <a:pPr algn="l"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Result.java
</a:t>
            </a:r>
            <a:pPr algn="l"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exception/
</a:t>
            </a:r>
            <a:pPr algn="l"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config/     # 配置类
</a:t>
            </a:r>
            <a:pPr algn="l"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modules/    # 业务模块
</a:t>
            </a:r>
            <a:pPr algn="l"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auth/   # 认证
</a:t>
            </a:r>
            <a:pPr algn="l"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dorm/   # 宿舍
</a:t>
            </a:r>
            <a:pPr algn="l"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student/# 学生
</a:t>
            </a:r>
            <a:pPr algn="l"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repair/ # 报修
</a:t>
            </a:r>
            <a:pPr algn="l"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notice/ # 公告
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0" y="1005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4A90E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前端目录结构 (web/src/)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0" y="137160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web/src/
</a:t>
            </a:r>
            <a:pPr algn="l"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api/        # API调用
</a:t>
            </a:r>
            <a:pPr algn="l"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dorm.ts
</a:t>
            </a:r>
            <a:pPr algn="l"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student.ts
</a:t>
            </a:r>
            <a:pPr algn="l"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...
</a:t>
            </a:r>
            <a:pPr algn="l"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layout/     # 布局组件
</a:t>
            </a:r>
            <a:pPr algn="l"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router/     # 路由配置
</a:t>
            </a:r>
            <a:pPr algn="l"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stores/     # Pinia状态
</a:t>
            </a:r>
            <a:pPr algn="l"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styles/     # 主题样式
</a:t>
            </a:r>
            <a:pPr algn="l"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utils/      # 工具函数
</a:t>
            </a:r>
            <a:pPr algn="l"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views/      # 页面组件
</a:t>
            </a:r>
            <a:endParaRPr lang="en-US" sz="1000" dirty="0"/>
          </a:p>
        </p:txBody>
      </p:sp>
      <p:sp>
        <p:nvSpPr>
          <p:cNvPr id="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spc="100" kern="0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06 部署方案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方案一：分离部署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114800" cy="2286000"/>
          </a:xfrm>
          <a:prstGeom prst="rect">
            <a:avLst/>
          </a:prstGeom>
          <a:solidFill>
            <a:srgbClr val="F5F5F5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5448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后端：
</a:t>
            </a:r>
            <a:pPr algn="l"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mvn clean package
</a:t>
            </a:r>
            <a:pPr algn="l"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java -jar xxx.jar
</a:t>
            </a:r>
            <a:pPr algn="l"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前端：
</a:t>
            </a:r>
            <a:pPr algn="l"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npm run build
</a:t>
            </a:r>
            <a:pPr algn="l"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Nginx部署静态资源
</a:t>
            </a:r>
            <a:pPr algn="l"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配置反向代理到后端API
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0" y="1005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4A90E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方案二：整合部署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29200" y="1371600"/>
            <a:ext cx="3657600" cy="2286000"/>
          </a:xfrm>
          <a:prstGeom prst="rect">
            <a:avLst/>
          </a:prstGeom>
          <a:solidFill>
            <a:srgbClr val="F5F5F5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0" y="1554480"/>
            <a:ext cx="3291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前端构建产物复制到
</a:t>
            </a:r>
            <a:pPr algn="l"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server/src/main/resources/static
</a:t>
            </a:r>
            <a:pPr algn="l"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重新构建后端jar
</a:t>
            </a:r>
            <a:pPr algn="l"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单端口访问
</a:t>
            </a:r>
            <a:pPr algn="l"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(前后端同端口)
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默认端口：后端 8080 | 前端开发 5173 | 数据库 MySQL 3306</a:t>
            </a:r>
            <a:endParaRPr lang="en-US" sz="1400" dirty="0"/>
          </a:p>
        </p:txBody>
      </p:sp>
      <p:sp>
        <p:nvSpPr>
          <p:cNvPr id="12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spc="100" kern="0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07 总结与展望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项目成果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6454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✓ 完成前后端分离架构设计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6454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✓ 实现用户认证与权限控制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6454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✓ 完成宿舍管理核心功能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6454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✓ 实现报修流程管理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8346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6454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✓ 提供API文档支持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2004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6454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✓ 支持深色模式主题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0" y="1005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4A90E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未来展望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1371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6454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→ 移动端APP开发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0" y="1737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6454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→ 智能宿舍分配算法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0" y="2103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6454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→ 数据统计可视化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0" y="2468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6454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→ 消息推送系统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0" y="2834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6454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→ 门禁系统集成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0" y="3200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6454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→ 微服务架构升级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solidFill>
            <a:srgbClr val="F5F5F5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技术亮点：Spring Boot 3.2 + Vue 3 + TypeScript + Sa-Token + MyBatis-Plus</a:t>
            </a:r>
            <a:endParaRPr lang="en-US" sz="1400" dirty="0"/>
          </a:p>
        </p:txBody>
      </p:sp>
      <p:sp>
        <p:nvSpPr>
          <p:cNvPr id="20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400" b="1" spc="300" kern="0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感谢聆听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欢迎提问与交流</a:t>
            </a:r>
            <a:endParaRPr lang="en-US" sz="1800" dirty="0"/>
          </a:p>
        </p:txBody>
      </p:sp>
      <p:sp>
        <p:nvSpPr>
          <p:cNvPr id="5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2026-05-31T16:19:26Z</dcterms:created>
  <dcterms:modified xsi:type="dcterms:W3CDTF">2026-05-31T16:19:26Z</dcterms:modified>
</cp:coreProperties>
</file>